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7E07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con-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371600"/>
            <a:ext cx="2194560" cy="2194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840480" y="1463040"/>
            <a:ext cx="7680960" cy="3931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F2B705"/>
                </a:solidFill>
                <a:latin typeface="Calibri"/>
              </a:rPr>
              <a:t>PROPUESTA COMERCIAL</a:t>
            </a:r>
          </a:p>
          <a:p>
            <a:pPr algn="l"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Plataforma de Gestión</a:t>
            </a:r>
          </a:p>
          <a:p>
            <a:pPr algn="l">
              <a:spcAft>
                <a:spcPts val="10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Halcones Paracaidismo</a:t>
            </a:r>
          </a:p>
          <a:p>
            <a:pPr algn="l">
              <a:spcAft>
                <a:spcPts val="1600"/>
              </a:spcAft>
            </a:pPr>
            <a:r>
              <a:rPr sz="1500" b="0" i="0">
                <a:solidFill>
                  <a:srgbClr val="F0D9D5"/>
                </a:solidFill>
                <a:latin typeface="Calibri"/>
              </a:rPr>
              <a:t>Cursos · Estudiantes · Finanzas · Saltos · Notificaciones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2B705"/>
                </a:solidFill>
                <a:latin typeface="Calibri"/>
              </a:rPr>
              <a:t>Cali, Colombia  ·  Julio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7E07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105156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F2B705"/>
                </a:solidFill>
                <a:latin typeface="Calibri"/>
              </a:rPr>
              <a:t>PROPUESTA COMERCIAL</a:t>
            </a:r>
          </a:p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La oportunidad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7A7167"/>
                </a:solidFill>
                <a:latin typeface="Calibri"/>
              </a:rPr>
              <a:t>Halcones Paracaidismo · Cali, Colombia · Julio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16130F"/>
                </a:solidFill>
                <a:latin typeface="Calibri"/>
              </a:rPr>
              <a:t>Halcones vende el curso AFF a $6.333.333 por estudiante, pero hoy gestiona todo (cursos, pagos, documentos, vuelos y seguimiento) por WhatsApp y de forma manual.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6130F"/>
                </a:solidFill>
                <a:latin typeface="Calibri"/>
              </a:rPr>
              <a:t>Esta plataforma centraliza toda la operación en un solo lugar, con acceso por roles y desde el celular — y cuesta menos que vender UN solo curso AFF.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566160"/>
            <a:ext cx="3474720" cy="2011680"/>
          </a:xfrm>
          <a:prstGeom prst="rect">
            <a:avLst/>
          </a:prstGeom>
          <a:solidFill>
            <a:srgbClr val="FFFFFF"/>
          </a:solidFill>
          <a:ln>
            <a:solidFill>
              <a:srgbClr val="E7DE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3566160"/>
            <a:ext cx="3474720" cy="63500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3794760"/>
            <a:ext cx="301752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0" i="0">
                <a:solidFill>
                  <a:srgbClr val="7E0704"/>
                </a:solidFill>
                <a:latin typeface="Calibri"/>
              </a:rPr>
              <a:t>⏰</a:t>
            </a:r>
          </a:p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7E0704"/>
                </a:solidFill>
                <a:latin typeface="Calibri"/>
              </a:rPr>
              <a:t>Menos inasistencias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7A7167"/>
                </a:solidFill>
                <a:latin typeface="Calibri"/>
              </a:rPr>
              <a:t>Recordatorios automáticos del próximo salto.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3400" y="3566160"/>
            <a:ext cx="3474720" cy="2011680"/>
          </a:xfrm>
          <a:prstGeom prst="rect">
            <a:avLst/>
          </a:prstGeom>
          <a:solidFill>
            <a:srgbClr val="FFFFFF"/>
          </a:solidFill>
          <a:ln>
            <a:solidFill>
              <a:srgbClr val="E7DE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3566160"/>
            <a:ext cx="3474720" cy="63500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3794760"/>
            <a:ext cx="301752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0" i="0">
                <a:solidFill>
                  <a:srgbClr val="7E0704"/>
                </a:solidFill>
                <a:latin typeface="Calibri"/>
              </a:rPr>
              <a:t>🔁</a:t>
            </a:r>
          </a:p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7E0704"/>
                </a:solidFill>
                <a:latin typeface="Calibri"/>
              </a:rPr>
              <a:t>Reactiva clientes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7A7167"/>
                </a:solidFill>
                <a:latin typeface="Calibri"/>
              </a:rPr>
              <a:t>Ofrece el curso a quien saltó una sola vez.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19" y="3566160"/>
            <a:ext cx="3474720" cy="2011680"/>
          </a:xfrm>
          <a:prstGeom prst="rect">
            <a:avLst/>
          </a:prstGeom>
          <a:solidFill>
            <a:srgbClr val="FFFFFF"/>
          </a:solidFill>
          <a:ln>
            <a:solidFill>
              <a:srgbClr val="E7DE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46719" y="3566160"/>
            <a:ext cx="3474720" cy="63500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5319" y="3794760"/>
            <a:ext cx="301752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0" i="0">
                <a:solidFill>
                  <a:srgbClr val="7E0704"/>
                </a:solidFill>
                <a:latin typeface="Calibri"/>
              </a:rPr>
              <a:t>💳</a:t>
            </a:r>
          </a:p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7E0704"/>
                </a:solidFill>
                <a:latin typeface="Calibri"/>
              </a:rPr>
              <a:t>Control financiero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7A7167"/>
                </a:solidFill>
                <a:latin typeface="Calibri"/>
              </a:rPr>
              <a:t>Ingresos, cartera y nómina, siempre claros.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7E07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105156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F2B705"/>
                </a:solidFill>
                <a:latin typeface="Calibri"/>
              </a:rPr>
              <a:t>PROPUESTA COMERCIAL</a:t>
            </a:r>
          </a:p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Qué incluye la plataforma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7A7167"/>
                </a:solidFill>
                <a:latin typeface="Calibri"/>
              </a:rPr>
              <a:t>Halcones Paracaidismo · Cali, Colombia · Julio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463040"/>
            <a:ext cx="5257800" cy="1371600"/>
          </a:xfrm>
          <a:prstGeom prst="rect">
            <a:avLst/>
          </a:prstGeom>
          <a:solidFill>
            <a:srgbClr val="FFFFFF"/>
          </a:solidFill>
          <a:ln>
            <a:solidFill>
              <a:srgbClr val="E7DE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463040"/>
            <a:ext cx="63500" cy="1371600"/>
          </a:xfrm>
          <a:prstGeom prst="rect">
            <a:avLst/>
          </a:prstGeom>
          <a:solidFill>
            <a:srgbClr val="A930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627632"/>
            <a:ext cx="48463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7E0704"/>
                </a:solidFill>
                <a:latin typeface="Calibri"/>
              </a:rPr>
              <a:t>🪂 Cursos</a:t>
            </a:r>
          </a:p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16130F"/>
                </a:solidFill>
                <a:latin typeface="Calibri"/>
              </a:rPr>
              <a:t>Catálogo (AFF, Tándem…), temario, precios, videos y manuales.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463040"/>
            <a:ext cx="5257800" cy="1371600"/>
          </a:xfrm>
          <a:prstGeom prst="rect">
            <a:avLst/>
          </a:prstGeom>
          <a:solidFill>
            <a:srgbClr val="FFFFFF"/>
          </a:solidFill>
          <a:ln>
            <a:solidFill>
              <a:srgbClr val="E7DE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09360" y="1463040"/>
            <a:ext cx="63500" cy="1371600"/>
          </a:xfrm>
          <a:prstGeom prst="rect">
            <a:avLst/>
          </a:prstGeom>
          <a:solidFill>
            <a:srgbClr val="A930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1627632"/>
            <a:ext cx="48463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7E0704"/>
                </a:solidFill>
                <a:latin typeface="Calibri"/>
              </a:rPr>
              <a:t>🎓 Estudiantes</a:t>
            </a:r>
          </a:p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16130F"/>
                </a:solidFill>
                <a:latin typeface="Calibri"/>
              </a:rPr>
              <a:t>Fichas completas y bitácora de saltos por nivel.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063240"/>
            <a:ext cx="5257800" cy="1371600"/>
          </a:xfrm>
          <a:prstGeom prst="rect">
            <a:avLst/>
          </a:prstGeom>
          <a:solidFill>
            <a:srgbClr val="FFFFFF"/>
          </a:solidFill>
          <a:ln>
            <a:solidFill>
              <a:srgbClr val="E7DE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063240"/>
            <a:ext cx="63500" cy="1371600"/>
          </a:xfrm>
          <a:prstGeom prst="rect">
            <a:avLst/>
          </a:prstGeom>
          <a:solidFill>
            <a:srgbClr val="A930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227832"/>
            <a:ext cx="48463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7E0704"/>
                </a:solidFill>
                <a:latin typeface="Calibri"/>
              </a:rPr>
              <a:t>💳 Finanzas</a:t>
            </a:r>
          </a:p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16130F"/>
                </a:solidFill>
                <a:latin typeface="Calibri"/>
              </a:rPr>
              <a:t>Pagos, cartera por cobrar y nómina de instructores.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0" y="3063240"/>
            <a:ext cx="5257800" cy="1371600"/>
          </a:xfrm>
          <a:prstGeom prst="rect">
            <a:avLst/>
          </a:prstGeom>
          <a:solidFill>
            <a:srgbClr val="FFFFFF"/>
          </a:solidFill>
          <a:ln>
            <a:solidFill>
              <a:srgbClr val="E7DE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09360" y="3063240"/>
            <a:ext cx="63500" cy="1371600"/>
          </a:xfrm>
          <a:prstGeom prst="rect">
            <a:avLst/>
          </a:prstGeom>
          <a:solidFill>
            <a:srgbClr val="A930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3227832"/>
            <a:ext cx="48463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7E0704"/>
                </a:solidFill>
                <a:latin typeface="Calibri"/>
              </a:rPr>
              <a:t>📋 Manifiesto</a:t>
            </a:r>
          </a:p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16130F"/>
                </a:solidFill>
                <a:latin typeface="Calibri"/>
              </a:rPr>
              <a:t>Jornadas, vuelos y quién va en cada vuelo.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4663440"/>
            <a:ext cx="5257800" cy="1371600"/>
          </a:xfrm>
          <a:prstGeom prst="rect">
            <a:avLst/>
          </a:prstGeom>
          <a:solidFill>
            <a:srgbClr val="FFFFFF"/>
          </a:solidFill>
          <a:ln>
            <a:solidFill>
              <a:srgbClr val="E7DE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4663440"/>
            <a:ext cx="63500" cy="1371600"/>
          </a:xfrm>
          <a:prstGeom prst="rect">
            <a:avLst/>
          </a:prstGeom>
          <a:solidFill>
            <a:srgbClr val="A930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4828032"/>
            <a:ext cx="48463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7E0704"/>
                </a:solidFill>
                <a:latin typeface="Calibri"/>
              </a:rPr>
              <a:t>✉️ Notificaciones</a:t>
            </a:r>
          </a:p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16130F"/>
                </a:solidFill>
                <a:latin typeface="Calibri"/>
              </a:rPr>
              <a:t>Correos programables: recordatorio y oferta de curso.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0" y="4663440"/>
            <a:ext cx="5257800" cy="1371600"/>
          </a:xfrm>
          <a:prstGeom prst="rect">
            <a:avLst/>
          </a:prstGeom>
          <a:solidFill>
            <a:srgbClr val="FFFFFF"/>
          </a:solidFill>
          <a:ln>
            <a:solidFill>
              <a:srgbClr val="E7DE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309360" y="4663440"/>
            <a:ext cx="63500" cy="1371600"/>
          </a:xfrm>
          <a:prstGeom prst="rect">
            <a:avLst/>
          </a:prstGeom>
          <a:solidFill>
            <a:srgbClr val="A930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0" y="4828032"/>
            <a:ext cx="48463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7E0704"/>
                </a:solidFill>
                <a:latin typeface="Calibri"/>
              </a:rPr>
              <a:t>👥 Roles + PWA</a:t>
            </a:r>
          </a:p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16130F"/>
                </a:solidFill>
                <a:latin typeface="Calibri"/>
              </a:rPr>
              <a:t>Admin, Instructor y Estudiante. App instalable en el celular.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7E07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105156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F2B705"/>
                </a:solidFill>
                <a:latin typeface="Calibri"/>
              </a:rPr>
              <a:t>PROPUESTA COMERCIAL</a:t>
            </a:r>
          </a:p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Valor de mercado vs. precio propuesto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7A7167"/>
                </a:solidFill>
                <a:latin typeface="Calibri"/>
              </a:rPr>
              <a:t>Halcones Paracaidismo · Cali, Colombia · Julio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108813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16130F"/>
                </a:solidFill>
                <a:latin typeface="Calibri"/>
              </a:rPr>
              <a:t>En Colombia (2025–2026), un sistema de gestión web a la medida para una PyME cuesta: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743200"/>
            <a:ext cx="5212080" cy="2011680"/>
          </a:xfrm>
          <a:prstGeom prst="rect">
            <a:avLst/>
          </a:prstGeom>
          <a:solidFill>
            <a:srgbClr val="FFFFFF"/>
          </a:solidFill>
          <a:ln>
            <a:solidFill>
              <a:srgbClr val="E7DE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017520"/>
            <a:ext cx="46634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7A7167"/>
                </a:solidFill>
                <a:latin typeface="Calibri"/>
              </a:rPr>
              <a:t>Mercado</a:t>
            </a:r>
          </a:p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7E0704"/>
                </a:solidFill>
                <a:latin typeface="Calibri"/>
              </a:rPr>
              <a:t>$15M – $60M COP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7A7167"/>
                </a:solidFill>
                <a:latin typeface="Calibri"/>
              </a:rPr>
              <a:t>sistema a la medida (referencia)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2743200"/>
            <a:ext cx="5212080" cy="2011680"/>
          </a:xfrm>
          <a:prstGeom prst="rect">
            <a:avLst/>
          </a:prstGeom>
          <a:solidFill>
            <a:srgbClr val="7E07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3017520"/>
            <a:ext cx="46634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F2B705"/>
                </a:solidFill>
                <a:latin typeface="Calibri"/>
              </a:rPr>
              <a:t>Precio de lanzamiento (esta propuesta)</a:t>
            </a:r>
          </a:p>
          <a:p>
            <a:pPr algn="l">
              <a:spcAft>
                <a:spcPts val="400"/>
              </a:spcAft>
            </a:pPr>
            <a:r>
              <a:rPr sz="3200" b="1" i="0">
                <a:solidFill>
                  <a:srgbClr val="FFFFFF"/>
                </a:solidFill>
                <a:latin typeface="Calibri"/>
              </a:rPr>
              <a:t>$5.500.000 COP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F0D9D5"/>
                </a:solidFill>
                <a:latin typeface="Calibri"/>
              </a:rPr>
              <a:t>menos que un curso AFF ($6.333.333)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12064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1">
                <a:solidFill>
                  <a:srgbClr val="16130F"/>
                </a:solidFill>
                <a:latin typeface="Calibri"/>
              </a:rPr>
              <a:t>Es la versión inicial, con un precio deliberadamente accesible para que la decisión sea sencilla y el retorno, inmediato.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7E07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105156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F2B705"/>
                </a:solidFill>
                <a:latin typeface="Calibri"/>
              </a:rPr>
              <a:t>PROPUESTA COMERCIAL</a:t>
            </a:r>
          </a:p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Inversión y forma de pago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7A7167"/>
                </a:solidFill>
                <a:latin typeface="Calibri"/>
              </a:rPr>
              <a:t>Halcones Paracaidismo · Cali, Colombia · Julio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7E0704"/>
                </a:solidFill>
                <a:latin typeface="Calibri"/>
              </a:rPr>
              <a:t>Precio total (llave en mano): $5.500.000 COP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2194560"/>
          <a:ext cx="10881360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66560"/>
                <a:gridCol w="1828800"/>
                <a:gridCol w="22860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Momento</a:t>
                      </a:r>
                    </a:p>
                  </a:txBody>
                  <a:tcPr marL="91440" marR="73152" marT="27432" marB="27432" anchor="ctr">
                    <a:solidFill>
                      <a:srgbClr val="A9303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Porcentaje</a:t>
                      </a:r>
                    </a:p>
                  </a:txBody>
                  <a:tcPr marL="91440" marR="73152" marT="27432" marB="27432" anchor="ctr">
                    <a:solidFill>
                      <a:srgbClr val="A9303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Valor</a:t>
                      </a:r>
                    </a:p>
                  </a:txBody>
                  <a:tcPr marL="91440" marR="73152" marT="27432" marB="27432" anchor="ctr">
                    <a:solidFill>
                      <a:srgbClr val="A9303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6130F"/>
                          </a:solidFill>
                          <a:latin typeface="Calibri"/>
                        </a:rPr>
                        <a:t>Anticipo — antes de empezar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6130F"/>
                          </a:solidFill>
                          <a:latin typeface="Calibri"/>
                        </a:rPr>
                        <a:t>50 %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6130F"/>
                          </a:solidFill>
                          <a:latin typeface="Calibri"/>
                        </a:rPr>
                        <a:t>$2.750.000 COP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6130F"/>
                          </a:solidFill>
                          <a:latin typeface="Calibri"/>
                        </a:rPr>
                        <a:t>Saldo — al finalizar el desarrollo (entrega)</a:t>
                      </a:r>
                    </a:p>
                  </a:txBody>
                  <a:tcPr marL="91440" marR="73152" marT="27432" marB="27432" anchor="ctr">
                    <a:solidFill>
                      <a:srgbClr val="F5F1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6130F"/>
                          </a:solidFill>
                          <a:latin typeface="Calibri"/>
                        </a:rPr>
                        <a:t>50 %</a:t>
                      </a:r>
                    </a:p>
                  </a:txBody>
                  <a:tcPr marL="91440" marR="73152" marT="27432" marB="27432" anchor="ctr">
                    <a:solidFill>
                      <a:srgbClr val="F5F1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16130F"/>
                          </a:solidFill>
                          <a:latin typeface="Calibri"/>
                        </a:rPr>
                        <a:t>$2.750.000 COP</a:t>
                      </a:r>
                    </a:p>
                  </a:txBody>
                  <a:tcPr marL="91440" marR="73152" marT="27432" marB="27432" anchor="ctr">
                    <a:solidFill>
                      <a:srgbClr val="F5F1E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4389120"/>
            <a:ext cx="108813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6130F"/>
                </a:solidFill>
                <a:latin typeface="Calibri"/>
              </a:rPr>
              <a:t>Incluye: despliegue con URL pública, carga de información inicial, personalización de marca, capacitación (1 sesión) y garantía de cambios de 2 semanas.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7E07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105156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F2B705"/>
                </a:solidFill>
                <a:latin typeface="Calibri"/>
              </a:rPr>
              <a:t>PROPUESTA COMERCIAL</a:t>
            </a:r>
          </a:p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Proceso de trabajo y cronograma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7A7167"/>
                </a:solidFill>
                <a:latin typeface="Calibri"/>
              </a:rPr>
              <a:t>Halcones Paracaidismo · Cali, Colombia · Julio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7E0704"/>
                </a:solidFill>
                <a:latin typeface="Calibri"/>
              </a:rPr>
              <a:t>Desarrollo: 2 semanas  ·  Garantía de cambios: 2 semanas posteriores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011680"/>
            <a:ext cx="2057400" cy="1920240"/>
          </a:xfrm>
          <a:prstGeom prst="rect">
            <a:avLst/>
          </a:prstGeom>
          <a:solidFill>
            <a:srgbClr val="FFFFFF"/>
          </a:solidFill>
          <a:ln>
            <a:solidFill>
              <a:srgbClr val="E7DE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17320" y="2194560"/>
            <a:ext cx="502920" cy="502920"/>
          </a:xfrm>
          <a:prstGeom prst="ellipse">
            <a:avLst/>
          </a:prstGeom>
          <a:solidFill>
            <a:srgbClr val="7E07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2B705"/>
                </a:solidFill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880360"/>
            <a:ext cx="178308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 i="0">
                <a:solidFill>
                  <a:srgbClr val="7E0704"/>
                </a:solidFill>
                <a:latin typeface="Calibri"/>
              </a:rPr>
              <a:t>Reunión inicial</a:t>
            </a:r>
          </a:p>
          <a:p>
            <a:pPr algn="ctr">
              <a:spcAft>
                <a:spcPts val="600"/>
              </a:spcAft>
            </a:pPr>
            <a:r>
              <a:rPr sz="1050" b="0" i="0">
                <a:solidFill>
                  <a:srgbClr val="7A7167"/>
                </a:solidFill>
                <a:latin typeface="Calibri"/>
              </a:rPr>
              <a:t>Requerimientos y riesgos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80360" y="2011680"/>
            <a:ext cx="2057400" cy="1920240"/>
          </a:xfrm>
          <a:prstGeom prst="rect">
            <a:avLst/>
          </a:prstGeom>
          <a:solidFill>
            <a:srgbClr val="FFFFFF"/>
          </a:solidFill>
          <a:ln>
            <a:solidFill>
              <a:srgbClr val="E7DE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657600" y="2194560"/>
            <a:ext cx="502920" cy="502920"/>
          </a:xfrm>
          <a:prstGeom prst="ellipse">
            <a:avLst/>
          </a:prstGeom>
          <a:solidFill>
            <a:srgbClr val="7E07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2B705"/>
                </a:solidFill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17520" y="2880360"/>
            <a:ext cx="178308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 i="0">
                <a:solidFill>
                  <a:srgbClr val="7E0704"/>
                </a:solidFill>
                <a:latin typeface="Calibri"/>
              </a:rPr>
              <a:t>1ª versión funcional</a:t>
            </a:r>
          </a:p>
          <a:p>
            <a:pPr algn="ctr">
              <a:spcAft>
                <a:spcPts val="600"/>
              </a:spcAft>
            </a:pPr>
            <a:r>
              <a:rPr sz="1050" b="0" i="0">
                <a:solidFill>
                  <a:srgbClr val="7A7167"/>
                </a:solidFill>
                <a:latin typeface="Calibri"/>
              </a:rPr>
              <a:t>Desplegada para revisión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20640" y="2011680"/>
            <a:ext cx="2057400" cy="1920240"/>
          </a:xfrm>
          <a:prstGeom prst="rect">
            <a:avLst/>
          </a:prstGeom>
          <a:solidFill>
            <a:srgbClr val="FFFFFF"/>
          </a:solidFill>
          <a:ln>
            <a:solidFill>
              <a:srgbClr val="E7DE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897880" y="2194560"/>
            <a:ext cx="502920" cy="502920"/>
          </a:xfrm>
          <a:prstGeom prst="ellipse">
            <a:avLst/>
          </a:prstGeom>
          <a:solidFill>
            <a:srgbClr val="7E07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2B705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57800" y="2880360"/>
            <a:ext cx="178308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 i="0">
                <a:solidFill>
                  <a:srgbClr val="7E0704"/>
                </a:solidFill>
                <a:latin typeface="Calibri"/>
              </a:rPr>
              <a:t>Pruebas del cliente</a:t>
            </a:r>
          </a:p>
          <a:p>
            <a:pPr algn="ctr">
              <a:spcAft>
                <a:spcPts val="600"/>
              </a:spcAft>
            </a:pPr>
            <a:r>
              <a:rPr sz="1050" b="0" i="0">
                <a:solidFill>
                  <a:srgbClr val="7A7167"/>
                </a:solidFill>
                <a:latin typeface="Calibri"/>
              </a:rPr>
              <a:t>En su operación real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60920" y="2011680"/>
            <a:ext cx="2057400" cy="1920240"/>
          </a:xfrm>
          <a:prstGeom prst="rect">
            <a:avLst/>
          </a:prstGeom>
          <a:solidFill>
            <a:srgbClr val="FFFFFF"/>
          </a:solidFill>
          <a:ln>
            <a:solidFill>
              <a:srgbClr val="E7DE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138160" y="2194560"/>
            <a:ext cx="502920" cy="502920"/>
          </a:xfrm>
          <a:prstGeom prst="ellipse">
            <a:avLst/>
          </a:prstGeom>
          <a:solidFill>
            <a:srgbClr val="7E07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2B705"/>
                </a:solidFill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0" y="2880360"/>
            <a:ext cx="178308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 i="0">
                <a:solidFill>
                  <a:srgbClr val="7E0704"/>
                </a:solidFill>
                <a:latin typeface="Calibri"/>
              </a:rPr>
              <a:t>Ajustes</a:t>
            </a:r>
          </a:p>
          <a:p>
            <a:pPr algn="ctr">
              <a:spcAft>
                <a:spcPts val="600"/>
              </a:spcAft>
            </a:pPr>
            <a:r>
              <a:rPr sz="1050" b="0" i="0">
                <a:solidFill>
                  <a:srgbClr val="7A7167"/>
                </a:solidFill>
                <a:latin typeface="Calibri"/>
              </a:rPr>
              <a:t>Cambios de las pruebas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601200" y="2011680"/>
            <a:ext cx="2057400" cy="1920240"/>
          </a:xfrm>
          <a:prstGeom prst="rect">
            <a:avLst/>
          </a:prstGeom>
          <a:solidFill>
            <a:srgbClr val="FFFFFF"/>
          </a:solidFill>
          <a:ln>
            <a:solidFill>
              <a:srgbClr val="E7DE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378440" y="2194560"/>
            <a:ext cx="502920" cy="502920"/>
          </a:xfrm>
          <a:prstGeom prst="ellipse">
            <a:avLst/>
          </a:prstGeom>
          <a:solidFill>
            <a:srgbClr val="7E07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F2B705"/>
                </a:solidFill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38360" y="2880360"/>
            <a:ext cx="178308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 i="0">
                <a:solidFill>
                  <a:srgbClr val="7E0704"/>
                </a:solidFill>
                <a:latin typeface="Calibri"/>
              </a:rPr>
              <a:t>Entrega final</a:t>
            </a:r>
          </a:p>
          <a:p>
            <a:pPr algn="ctr">
              <a:spcAft>
                <a:spcPts val="600"/>
              </a:spcAft>
            </a:pPr>
            <a:r>
              <a:rPr sz="1050" b="0" i="0">
                <a:solidFill>
                  <a:srgbClr val="7A7167"/>
                </a:solidFill>
                <a:latin typeface="Calibri"/>
              </a:rPr>
              <a:t>Versión final + capacitación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4480560"/>
            <a:ext cx="10881360" cy="1280160"/>
          </a:xfrm>
          <a:prstGeom prst="rect">
            <a:avLst/>
          </a:prstGeom>
          <a:solidFill>
            <a:srgbClr val="7E07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617720"/>
            <a:ext cx="1033272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Semana 1: Reunión + 1ª versión</a:t>
            </a:r>
            <a:r>
              <a:rPr sz="1400" b="1">
                <a:solidFill>
                  <a:srgbClr val="FFFFFF"/>
                </a:solidFill>
                <a:latin typeface="Calibri"/>
              </a:rPr>
              <a:t>   |   Semana 2: Pruebas + ajustes + entrega</a:t>
            </a:r>
            <a:r>
              <a:rPr sz="1400" b="1">
                <a:solidFill>
                  <a:srgbClr val="FFFFFF"/>
                </a:solidFill>
                <a:latin typeface="Calibri"/>
              </a:rPr>
              <a:t>   |   +2 semanas: Garantía de cambios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7E07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105156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F2B705"/>
                </a:solidFill>
                <a:latin typeface="Calibri"/>
              </a:rPr>
              <a:t>PROPUESTA COMERCIAL</a:t>
            </a:r>
          </a:p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Costos recurrentes (los paga Halcones al proveedor)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7A7167"/>
                </a:solidFill>
                <a:latin typeface="Calibri"/>
              </a:rPr>
              <a:t>Halcones Paracaidismo · Cali, Colombia · Julio 2026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463040"/>
          <a:ext cx="1088136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46320"/>
                <a:gridCol w="2743200"/>
                <a:gridCol w="329184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Concepto</a:t>
                      </a:r>
                    </a:p>
                  </a:txBody>
                  <a:tcPr marL="91440" marR="73152" marT="27432" marB="27432" anchor="ctr">
                    <a:solidFill>
                      <a:srgbClr val="A9303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Arranque / demo</a:t>
                      </a:r>
                    </a:p>
                  </a:txBody>
                  <a:tcPr marL="91440" marR="73152" marT="27432" marB="27432" anchor="ctr">
                    <a:solidFill>
                      <a:srgbClr val="A9303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Producción</a:t>
                      </a:r>
                    </a:p>
                  </a:txBody>
                  <a:tcPr marL="91440" marR="73152" marT="27432" marB="27432" anchor="ctr">
                    <a:solidFill>
                      <a:srgbClr val="A9303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6130F"/>
                          </a:solidFill>
                          <a:latin typeface="Calibri"/>
                        </a:rPr>
                        <a:t>Hosting (Render) + base de datos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6130F"/>
                          </a:solidFill>
                          <a:latin typeface="Calibri"/>
                        </a:rPr>
                        <a:t>$0 (plan free)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6130F"/>
                          </a:solidFill>
                          <a:latin typeface="Calibri"/>
                        </a:rPr>
                        <a:t>~$28.000–$52.000 / mes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6130F"/>
                          </a:solidFill>
                          <a:latin typeface="Calibri"/>
                        </a:rPr>
                        <a:t>Dominio propio (.co / .com)</a:t>
                      </a:r>
                    </a:p>
                  </a:txBody>
                  <a:tcPr marL="91440" marR="73152" marT="27432" marB="27432" anchor="ctr">
                    <a:solidFill>
                      <a:srgbClr val="F5F1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6130F"/>
                          </a:solidFill>
                          <a:latin typeface="Calibri"/>
                        </a:rPr>
                        <a:t>opcional</a:t>
                      </a:r>
                    </a:p>
                  </a:txBody>
                  <a:tcPr marL="91440" marR="73152" marT="27432" marB="27432" anchor="ctr">
                    <a:solidFill>
                      <a:srgbClr val="F5F1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6130F"/>
                          </a:solidFill>
                          <a:latin typeface="Calibri"/>
                        </a:rPr>
                        <a:t>$40.000–$230.000 / año</a:t>
                      </a:r>
                    </a:p>
                  </a:txBody>
                  <a:tcPr marL="91440" marR="73152" marT="27432" marB="27432" anchor="ctr">
                    <a:solidFill>
                      <a:srgbClr val="F5F1E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6130F"/>
                          </a:solidFill>
                          <a:latin typeface="Calibri"/>
                        </a:rPr>
                        <a:t>Correo de notificaciones (Brevo/Resend)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6130F"/>
                          </a:solidFill>
                          <a:latin typeface="Calibri"/>
                        </a:rPr>
                        <a:t>$0 (capa gratis)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6130F"/>
                          </a:solidFill>
                          <a:latin typeface="Calibri"/>
                        </a:rPr>
                        <a:t>$0 (o ~$36.000/mes si crece)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6130F"/>
                          </a:solidFill>
                          <a:latin typeface="Calibri"/>
                        </a:rPr>
                        <a:t>Certificado HTTPS (SSL)</a:t>
                      </a:r>
                    </a:p>
                  </a:txBody>
                  <a:tcPr marL="91440" marR="73152" marT="27432" marB="27432" anchor="ctr">
                    <a:solidFill>
                      <a:srgbClr val="F5F1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6130F"/>
                          </a:solidFill>
                          <a:latin typeface="Calibri"/>
                        </a:rPr>
                        <a:t>Gratis</a:t>
                      </a:r>
                    </a:p>
                  </a:txBody>
                  <a:tcPr marL="91440" marR="73152" marT="27432" marB="27432" anchor="ctr">
                    <a:solidFill>
                      <a:srgbClr val="F5F1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6130F"/>
                          </a:solidFill>
                          <a:latin typeface="Calibri"/>
                        </a:rPr>
                        <a:t>Gratis</a:t>
                      </a:r>
                    </a:p>
                  </a:txBody>
                  <a:tcPr marL="91440" marR="73152" marT="27432" marB="27432" anchor="ctr">
                    <a:solidFill>
                      <a:srgbClr val="F5F1EA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40080" y="4846320"/>
            <a:ext cx="10881360" cy="914400"/>
          </a:xfrm>
          <a:prstGeom prst="rect">
            <a:avLst/>
          </a:prstGeom>
          <a:solidFill>
            <a:srgbClr val="FBF3DC"/>
          </a:solidFill>
          <a:ln>
            <a:solidFill>
              <a:srgbClr val="ECD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983480"/>
            <a:ext cx="103327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B8860B"/>
                </a:solidFill>
                <a:latin typeface="Calibri"/>
              </a:rPr>
              <a:t>Operación anual típica en producción: ~$700.000 – $1.000.000 COP/año. En modo arranque/demo puede ser prácticamente $0.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7E07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105156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F2B705"/>
                </a:solidFill>
                <a:latin typeface="Calibri"/>
              </a:rPr>
              <a:t>PROPUESTA COMERCIAL</a:t>
            </a:r>
          </a:p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Mantenimiento y retorno de inversión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7A7167"/>
                </a:solidFill>
                <a:latin typeface="Calibri"/>
              </a:rPr>
              <a:t>Halcones Paracaidismo · Cali, Colombia · Julio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7E0704"/>
                </a:solidFill>
                <a:latin typeface="Calibri"/>
              </a:rPr>
              <a:t>Mantenimiento y soporte (opcional)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783080"/>
          <a:ext cx="10881360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2377440"/>
                <a:gridCol w="59436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Plan</a:t>
                      </a:r>
                    </a:p>
                  </a:txBody>
                  <a:tcPr marL="91440" marR="73152" marT="27432" marB="27432" anchor="ctr">
                    <a:solidFill>
                      <a:srgbClr val="A9303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Precio</a:t>
                      </a:r>
                    </a:p>
                  </a:txBody>
                  <a:tcPr marL="91440" marR="73152" marT="27432" marB="27432" anchor="ctr">
                    <a:solidFill>
                      <a:srgbClr val="A9303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Incluye</a:t>
                      </a:r>
                    </a:p>
                  </a:txBody>
                  <a:tcPr marL="91440" marR="73152" marT="27432" marB="27432" anchor="ctr">
                    <a:solidFill>
                      <a:srgbClr val="A9303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6130F"/>
                          </a:solidFill>
                          <a:latin typeface="Calibri"/>
                        </a:rPr>
                        <a:t>Soporte mensual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6130F"/>
                          </a:solidFill>
                          <a:latin typeface="Calibri"/>
                        </a:rPr>
                        <a:t>$350.000 / mes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6130F"/>
                          </a:solidFill>
                          <a:latin typeface="Calibri"/>
                        </a:rPr>
                        <a:t>Monitoreo, backups, actualizaciones y 3 h/mes de cambios.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6130F"/>
                          </a:solidFill>
                          <a:latin typeface="Calibri"/>
                        </a:rPr>
                        <a:t>Bolsa de horas</a:t>
                      </a:r>
                    </a:p>
                  </a:txBody>
                  <a:tcPr marL="91440" marR="73152" marT="27432" marB="27432" anchor="ctr">
                    <a:solidFill>
                      <a:srgbClr val="F5F1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6130F"/>
                          </a:solidFill>
                          <a:latin typeface="Calibri"/>
                        </a:rPr>
                        <a:t>$130.000 / hora</a:t>
                      </a:r>
                    </a:p>
                  </a:txBody>
                  <a:tcPr marL="91440" marR="73152" marT="27432" marB="27432" anchor="ctr">
                    <a:solidFill>
                      <a:srgbClr val="F5F1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6130F"/>
                          </a:solidFill>
                          <a:latin typeface="Calibri"/>
                        </a:rPr>
                        <a:t>Nuevas funciones o cambios puntuales, bajo demanda.</a:t>
                      </a:r>
                    </a:p>
                  </a:txBody>
                  <a:tcPr marL="91440" marR="73152" marT="27432" marB="27432" anchor="ctr">
                    <a:solidFill>
                      <a:srgbClr val="F5F1E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3977639"/>
            <a:ext cx="10881360" cy="1737360"/>
          </a:xfrm>
          <a:prstGeom prst="rect">
            <a:avLst/>
          </a:prstGeom>
          <a:solidFill>
            <a:srgbClr val="7E07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160520"/>
            <a:ext cx="1033272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Se paga con menos de 1 curso AFF</a:t>
            </a:r>
          </a:p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F0D9D5"/>
                </a:solidFill>
                <a:latin typeface="Calibri"/>
              </a:rPr>
              <a:t>Precio $5.500.000 + operación ~$1.000.000/año  &lt;  un curso AFF $6.333.333. Si ayuda a cerrar un solo estudiante adicional al año, la inversión queda cubierta.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7E07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105156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F2B705"/>
                </a:solidFill>
                <a:latin typeface="Calibri"/>
              </a:rPr>
              <a:t>PROPUESTA COMERCIAL</a:t>
            </a:r>
          </a:p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Puesta en marcha y próximos pasos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7A7167"/>
                </a:solidFill>
                <a:latin typeface="Calibri"/>
              </a:rPr>
              <a:t>Halcones Paracaidismo · Cali, Colombia · Julio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6130F"/>
                </a:solidFill>
                <a:latin typeface="Calibri"/>
              </a:rPr>
              <a:t>La plataforma se publica en Render con URL pública y HTTPS gratuito (código ya en GitHub).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194560"/>
            <a:ext cx="105156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0" i="0">
                <a:solidFill>
                  <a:srgbClr val="16130F"/>
                </a:solidFill>
                <a:latin typeface="Calibri"/>
              </a:rPr>
              <a:t>1.  Aprobar la propuesta y pagar el anticipo (50 %).</a:t>
            </a:r>
          </a:p>
          <a:p>
            <a:pPr algn="l">
              <a:spcAft>
                <a:spcPts val="1200"/>
              </a:spcAft>
            </a:pPr>
            <a:r>
              <a:rPr sz="1600" b="0" i="0">
                <a:solidFill>
                  <a:srgbClr val="16130F"/>
                </a:solidFill>
                <a:latin typeface="Calibri"/>
              </a:rPr>
              <a:t>2.  Reunión inicial de requerimientos y riesgos.</a:t>
            </a:r>
          </a:p>
          <a:p>
            <a:pPr algn="l">
              <a:spcAft>
                <a:spcPts val="1200"/>
              </a:spcAft>
            </a:pPr>
            <a:r>
              <a:rPr sz="1600" b="0" i="0">
                <a:solidFill>
                  <a:srgbClr val="16130F"/>
                </a:solidFill>
                <a:latin typeface="Calibri"/>
              </a:rPr>
              <a:t>3.  Desarrollo, pruebas, ajustes y entrega final (2 semanas).</a:t>
            </a:r>
          </a:p>
          <a:p>
            <a:pPr algn="l">
              <a:spcAft>
                <a:spcPts val="1200"/>
              </a:spcAft>
            </a:pPr>
            <a:r>
              <a:rPr sz="1600" b="0" i="0">
                <a:solidFill>
                  <a:srgbClr val="16130F"/>
                </a:solidFill>
                <a:latin typeface="Calibri"/>
              </a:rPr>
              <a:t>4.  Registro de dominio y cuentas de hosting/correo a nombre de Halcones.</a:t>
            </a:r>
          </a:p>
          <a:p>
            <a:pPr algn="l">
              <a:spcAft>
                <a:spcPts val="1200"/>
              </a:spcAft>
            </a:pPr>
            <a:r>
              <a:rPr sz="1600" b="0" i="0">
                <a:solidFill>
                  <a:srgbClr val="16130F"/>
                </a:solidFill>
                <a:latin typeface="Calibri"/>
              </a:rPr>
              <a:t>5.  (Opcional) Activar el plan de soporte mensual.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5532120"/>
            <a:ext cx="10881360" cy="685800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596128"/>
            <a:ext cx="103327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5C0503"/>
                </a:solidFill>
                <a:latin typeface="Calibri"/>
              </a:rPr>
              <a:t>¡Listos para hacer despegar la gestión de Halcones Paracaidismo! 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