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0" y="1463040"/>
            <a:ext cx="7680960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Plataforma de Gestión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Halcones Paracaidismo</a:t>
            </a:r>
          </a:p>
          <a:p>
            <a:pPr algn="l">
              <a:spcAft>
                <a:spcPts val="1600"/>
              </a:spcAft>
            </a:pPr>
            <a:r>
              <a:rPr sz="1500" b="0" i="0">
                <a:solidFill>
                  <a:srgbClr val="F0D9D5"/>
                </a:solidFill>
                <a:latin typeface="Calibri"/>
              </a:rPr>
              <a:t>Cursos · Estudiantes · Finanzas · Saltos · Notificaciones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2B705"/>
                </a:solidFill>
                <a:latin typeface="Calibri"/>
              </a:rPr>
              <a:t>Cali, Colombia  · 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 oportunidad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6130F"/>
                </a:solidFill>
                <a:latin typeface="Calibri"/>
              </a:rPr>
              <a:t>Halcones vende el curso AFF a $6.333.333 por estudiante, pero hoy gestiona todo (cursos, pagos, documentos, vuelos y seguimiento) por WhatsApp y de forma manual.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6130F"/>
                </a:solidFill>
                <a:latin typeface="Calibri"/>
              </a:rPr>
              <a:t>Esta plataforma centraliza toda la operación en un solo lugar, con acceso por roles y desde el celular — y cuesta menos que vender UN solo curso AFF.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3474720" cy="635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7E0704"/>
                </a:solidFill>
                <a:latin typeface="Calibri"/>
              </a:rPr>
              <a:t>⏰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E0704"/>
                </a:solidFill>
                <a:latin typeface="Calibri"/>
              </a:rPr>
              <a:t>Menos inasistencias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A7167"/>
                </a:solidFill>
                <a:latin typeface="Calibri"/>
              </a:rPr>
              <a:t>Recordatorios automáticos del próximo salto.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56616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566160"/>
            <a:ext cx="3474720" cy="635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79476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7E0704"/>
                </a:solidFill>
                <a:latin typeface="Calibri"/>
              </a:rPr>
              <a:t>🔁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E0704"/>
                </a:solidFill>
                <a:latin typeface="Calibri"/>
              </a:rPr>
              <a:t>Reactiva clientes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A7167"/>
                </a:solidFill>
                <a:latin typeface="Calibri"/>
              </a:rPr>
              <a:t>Ofrece el curso a quien saltó una sola vez.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356616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3566160"/>
            <a:ext cx="3474720" cy="635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794760"/>
            <a:ext cx="3017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 i="0">
                <a:solidFill>
                  <a:srgbClr val="7E0704"/>
                </a:solidFill>
                <a:latin typeface="Calibri"/>
              </a:rPr>
              <a:t>💳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E0704"/>
                </a:solidFill>
                <a:latin typeface="Calibri"/>
              </a:rPr>
              <a:t>Control financiero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A7167"/>
                </a:solidFill>
                <a:latin typeface="Calibri"/>
              </a:rPr>
              <a:t>Ingresos, cartera y nómina, siempre claros.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Qué incluye la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🌐 Página web comercial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Página pública con cursos y botones de WhatsApp e inicio de sesión.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9961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🪂 Cursos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Catálogo (AFF, Tándem…), temario, precios, videos y manuales (PDF/YouTube).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87752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587752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15768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🎓 Estudiantes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Fichas completas y bitácora de saltos por nivel.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587752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587752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715768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💳 Finanzas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Pagos, cartera por cobrar y nómina de instructores.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03904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03904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📋 Manifiesto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Jornadas, vuelos y quién va en cada vuelo.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03904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03904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✉️ Notificaciones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Correos programables: recordatorio y oferta de curso.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20056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020056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48072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👥 Roles + portal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Admin, Instructor y Estudiante. Portal del estudiante.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020056"/>
            <a:ext cx="5257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5020056"/>
            <a:ext cx="63500" cy="1078992"/>
          </a:xfrm>
          <a:prstGeom prst="rect">
            <a:avLst/>
          </a:prstGeom>
          <a:solidFill>
            <a:srgbClr val="A9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5148072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7E0704"/>
                </a:solidFill>
                <a:latin typeface="Calibri"/>
              </a:rPr>
              <a:t>📱 App PWA + URL/HTTPS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6130F"/>
                </a:solidFill>
                <a:latin typeface="Calibri"/>
              </a:rPr>
              <a:t>Instalable con marca, publicada con dominio seguro.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Valor de mercado vs. precio propuesto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6130F"/>
                </a:solidFill>
                <a:latin typeface="Calibri"/>
              </a:rPr>
              <a:t>En Colombia (2025–2026), un sistema de gestión web a la medida para una PyME cuesta: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52120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6634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A7167"/>
                </a:solidFill>
                <a:latin typeface="Calibri"/>
              </a:rPr>
              <a:t>Mercado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7E0704"/>
                </a:solidFill>
                <a:latin typeface="Calibri"/>
              </a:rPr>
              <a:t>$15M – $60M COP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A7167"/>
                </a:solidFill>
                <a:latin typeface="Calibri"/>
              </a:rPr>
              <a:t>sistema a la medida (referencia)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743200"/>
            <a:ext cx="5212080" cy="201168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6634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2B705"/>
                </a:solidFill>
                <a:latin typeface="Calibri"/>
              </a:rPr>
              <a:t>Precio de lanzamiento (esta propuesta)</a:t>
            </a:r>
          </a:p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$6.000.000 COP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0D9D5"/>
                </a:solidFill>
                <a:latin typeface="Calibri"/>
              </a:rPr>
              <a:t>menos que un curso AFF ($6.333.333)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16130F"/>
                </a:solidFill>
                <a:latin typeface="Calibri"/>
              </a:rPr>
              <a:t>Es la versión inicial, con un precio deliberadamente accesible para que la decisión sea sencilla y el retorno, inmediato.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Inversión y forma de pago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7E0704"/>
                </a:solidFill>
                <a:latin typeface="Calibri"/>
              </a:rPr>
              <a:t>Precio total (llave en mano): $6.000.000 COP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9456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18288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Momento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Porcentaje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6130F"/>
                          </a:solidFill>
                          <a:latin typeface="Calibri"/>
                        </a:rPr>
                        <a:t>Anticipo — antes de empezar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6130F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6130F"/>
                          </a:solidFill>
                          <a:latin typeface="Calibri"/>
                        </a:rPr>
                        <a:t>$3.000.000 COP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6130F"/>
                          </a:solidFill>
                          <a:latin typeface="Calibri"/>
                        </a:rPr>
                        <a:t>Saldo — al finalizar el desarrollo (entrega)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6130F"/>
                          </a:solidFill>
                          <a:latin typeface="Calibri"/>
                        </a:rPr>
                        <a:t>50 %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6130F"/>
                          </a:solidFill>
                          <a:latin typeface="Calibri"/>
                        </a:rPr>
                        <a:t>$3.000.000 COP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3891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6130F"/>
                </a:solidFill>
                <a:latin typeface="Calibri"/>
              </a:rPr>
              <a:t>Incluye: despliegue con URL pública, carga de información inicial, personalización de marca, capacitación (1 sesión) y garantía de cambios de 2 semanas.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Proceso de trabajo y cronograma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E0704"/>
                </a:solidFill>
                <a:latin typeface="Calibri"/>
              </a:rPr>
              <a:t>Desarrollo: 2 semanas  ·  Garantía de cambios: 2 semanas posteriores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057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2194560"/>
            <a:ext cx="502920" cy="502920"/>
          </a:xfrm>
          <a:prstGeom prst="ellipse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2B705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783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7E0704"/>
                </a:solidFill>
                <a:latin typeface="Calibri"/>
              </a:rPr>
              <a:t>Reunión inicial</a:t>
            </a:r>
          </a:p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A7167"/>
                </a:solidFill>
                <a:latin typeface="Calibri"/>
              </a:rPr>
              <a:t>Requerimientos y riesgos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011680"/>
            <a:ext cx="2057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2194560"/>
            <a:ext cx="502920" cy="502920"/>
          </a:xfrm>
          <a:prstGeom prst="ellipse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2B705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80360"/>
            <a:ext cx="1783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7E0704"/>
                </a:solidFill>
                <a:latin typeface="Calibri"/>
              </a:rPr>
              <a:t>1ª versión funcional</a:t>
            </a:r>
          </a:p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A7167"/>
                </a:solidFill>
                <a:latin typeface="Calibri"/>
              </a:rPr>
              <a:t>Desplegada para revisión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011680"/>
            <a:ext cx="2057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97880" y="2194560"/>
            <a:ext cx="502920" cy="502920"/>
          </a:xfrm>
          <a:prstGeom prst="ellipse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2B705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880360"/>
            <a:ext cx="1783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7E0704"/>
                </a:solidFill>
                <a:latin typeface="Calibri"/>
              </a:rPr>
              <a:t>Pruebas del cliente</a:t>
            </a:r>
          </a:p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A7167"/>
                </a:solidFill>
                <a:latin typeface="Calibri"/>
              </a:rPr>
              <a:t>En su operación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011680"/>
            <a:ext cx="2057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38160" y="2194560"/>
            <a:ext cx="502920" cy="502920"/>
          </a:xfrm>
          <a:prstGeom prst="ellipse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2B705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880360"/>
            <a:ext cx="1783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7E0704"/>
                </a:solidFill>
                <a:latin typeface="Calibri"/>
              </a:rPr>
              <a:t>Ajustes</a:t>
            </a:r>
          </a:p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A7167"/>
                </a:solidFill>
                <a:latin typeface="Calibri"/>
              </a:rPr>
              <a:t>Cambios de las pruebas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011680"/>
            <a:ext cx="2057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7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78440" y="2194560"/>
            <a:ext cx="502920" cy="502920"/>
          </a:xfrm>
          <a:prstGeom prst="ellipse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2B705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880360"/>
            <a:ext cx="1783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7E0704"/>
                </a:solidFill>
                <a:latin typeface="Calibri"/>
              </a:rPr>
              <a:t>Entrega final</a:t>
            </a:r>
          </a:p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A7167"/>
                </a:solidFill>
                <a:latin typeface="Calibri"/>
              </a:rPr>
              <a:t>Versión final + capacitación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Semana 1: Reunión + 1ª versión</a:t>
            </a:r>
            <a:r>
              <a:rPr sz="1400" b="1">
                <a:solidFill>
                  <a:srgbClr val="FFFFFF"/>
                </a:solidFill>
                <a:latin typeface="Calibri"/>
              </a:rPr>
              <a:t>   |   Semana 2: Pruebas + ajustes + entrega</a:t>
            </a:r>
            <a:r>
              <a:rPr sz="1400" b="1">
                <a:solidFill>
                  <a:srgbClr val="FFFFFF"/>
                </a:solidFill>
                <a:latin typeface="Calibri"/>
              </a:rPr>
              <a:t>   |   +2 semanas: Garantía de cambios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Costos recurrentes (los paga Halcones al proveedor)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2743200"/>
                <a:gridCol w="3291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Arranque / demo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Producción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Hosting (Render) + base de datos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$0 (plan free)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~$28.000–$52.000 / mes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Dominio propio (.co / .com)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opcional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$40.000–$230.000 / año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Correo de notificaciones (Brevo/Resend)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$0 (capa gratis)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$0 (o ~$36.000/mes si crece)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Certificado HTTPS (SSL)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Gratis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Gratis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solidFill>
            <a:srgbClr val="FBF3DC"/>
          </a:solidFill>
          <a:ln>
            <a:solidFill>
              <a:srgbClr val="EC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8860B"/>
                </a:solidFill>
                <a:latin typeface="Calibri"/>
              </a:rPr>
              <a:t>Operación anual típica en producción: ~$700.000 – $1.000.000 COP/año. En modo arranque/demo puede ser prácticamente $0.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Mantenimiento y retorno de 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E0704"/>
                </a:solidFill>
                <a:latin typeface="Calibri"/>
              </a:rPr>
              <a:t>Mantenimiento y soporte (opcional)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377440"/>
                <a:gridCol w="59436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Precio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Incluye</a:t>
                      </a:r>
                    </a:p>
                  </a:txBody>
                  <a:tcPr marL="91440" marR="73152" marT="27432" marB="27432" anchor="ctr">
                    <a:solidFill>
                      <a:srgbClr val="A9303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Soporte mensual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$350.000 / mes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Monitoreo, backups, actualizaciones y 3 h/mes de cambios.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Bolsa de horas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$130.000 / hora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6130F"/>
                          </a:solidFill>
                          <a:latin typeface="Calibri"/>
                        </a:rPr>
                        <a:t>Nuevas funciones o cambios puntuales, bajo demanda.</a:t>
                      </a:r>
                    </a:p>
                  </a:txBody>
                  <a:tcPr marL="91440" marR="73152" marT="27432" marB="27432" anchor="ctr">
                    <a:solidFill>
                      <a:srgbClr val="F5F1E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3977639"/>
            <a:ext cx="10881360" cy="17373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3327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Cuesta menos que 1 curso AFF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0D9D5"/>
                </a:solidFill>
                <a:latin typeface="Calibri"/>
              </a:rPr>
              <a:t>Precio $6.000.000 + operación ~$1.000.000/año  &lt;  un curso AFF $6.333.333. Si ayuda a cerrar un solo estudiante adicional al año, la inversión queda cubierta.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2B705"/>
                </a:solidFill>
                <a:latin typeface="Calibri"/>
              </a:rPr>
              <a:t>PROPUESTA COMERCIAL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Puesta en marcha y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7A7167"/>
                </a:solidFill>
                <a:latin typeface="Calibri"/>
              </a:rPr>
              <a:t>Halcones Paracaidismo · Cali, Colombia · Julio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6130F"/>
                </a:solidFill>
                <a:latin typeface="Calibri"/>
              </a:rPr>
              <a:t>La plataforma se publica en Render con URL pública y HTTPS gratuito (código ya en GitHub).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15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6130F"/>
                </a:solidFill>
                <a:latin typeface="Calibri"/>
              </a:rPr>
              <a:t>1.  Aprobar la propuesta y pagar el anticipo (50 %).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6130F"/>
                </a:solidFill>
                <a:latin typeface="Calibri"/>
              </a:rPr>
              <a:t>2.  Reunión inicial de requerimientos y riesgos.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6130F"/>
                </a:solidFill>
                <a:latin typeface="Calibri"/>
              </a:rPr>
              <a:t>3.  Desarrollo, pruebas, ajustes y entrega final (2 semanas).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6130F"/>
                </a:solidFill>
                <a:latin typeface="Calibri"/>
              </a:rPr>
              <a:t>4.  Registro de dominio y cuentas de hosting/correo a nombre de Halcones.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16130F"/>
                </a:solidFill>
                <a:latin typeface="Calibri"/>
              </a:rPr>
              <a:t>5.  (Opcional) Activar el plan de soporte mensual.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7E0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38928"/>
            <a:ext cx="10332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📱  Contacto: Julián Castaño   ·   WhatsApp +57 318 846 8892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F2B705"/>
                </a:solidFill>
                <a:latin typeface="Calibri"/>
              </a:rPr>
              <a:t>¡Listos para hacer despegar la gestión de Halcones Paracaidismo! 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